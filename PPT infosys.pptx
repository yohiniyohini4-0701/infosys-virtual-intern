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title and technology details verified from pom.xml, package.json, frontend routes, and backend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Overview grounded in README and implemented React pages, controllers, services, entities and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framing inferred from the implemented controls and workflows; no quantitative claims are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derived from available modules and security/workflow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Comparison describes capabilities present in the code without claiming measured organizational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verified from frontend service layer, Spring controllers/services/repositories/security, pom.xml and application.properties.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Versions verified from backend pom.xml and frontend package.json. Swagger/OpenAPI is intentionally excluded because no springdoc dependency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Roles verified from RoleType, SecurityConfig, ProtectedRoute and AppRoutes.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flow verified from ApplicationStatus, ApplicationService and VerificationWorkflowService.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Logic and criterion types verified from EligibilityService, related enums, DTOs and tests. High-value risk applies at grant amount &gt;= INR 500,000; borderline scores may be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VerificationWorkflowService, Verification entity, controllers and audit service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DisbursementService, MilestoneService, TreasuryIntegrationService and compliance tests. The treasury transfer is simulated, not a live government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Entity count and relationships verified from JPA entity annotations. README says 14 normalized tables but enumerates 15 including audit_logs; source entities plus user_roles yield 15 physical tables. This slide accurately names the implemented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AuthController, AuthService, JwtService, JwtAuthenticationFilter, SecurityConfig, AuthContext and ProtectedRoute. Token duration from application.properties.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frontend routes, pages, layout components, shared components and service modules. No application screenshot was included in the ZIP, so this slide uses an accurate source-derived interface map rather than fabricated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Counts calculated from source: 13 controller classes, 14 @Entity classes, five role types and 20 @Test annotations. No fabricated performance metrics are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are based on TreasuryIntegrationService, ExternalBeneficiarySyncService, local upload configuration, CORS configuration and monolithic project structure. Future scope is clearly prospective.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summarizes only implemented capabilities verified from the project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7858125" y="0"/>
            <a:ext cx="4333875" cy="4572000"/>
          </a:xfrm>
          <a:prstGeom prst="roundRect">
            <a:avLst>
              <a:gd name="adj" fmla="val 1758"/>
            </a:avLst>
          </a:prstGeom>
          <a:solidFill>
            <a:srgbClr val="0D3550"/>
          </a:solidFill>
          <a:ln w="0">
            <a:noFill/>
          </a:ln>
        </p:spPr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9096375" y="333375"/>
            <a:ext cx="3048000" cy="3048000"/>
          </a:xfrm>
          <a:prstGeom prst="roundRect">
            <a:avLst>
              <a:gd name="adj" fmla="val 2500"/>
            </a:avLst>
          </a:prstGeom>
          <a:solidFill>
            <a:srgbClr val="10516A"/>
          </a:solidFill>
          <a:ln w="0">
            <a:noFill/>
          </a:ln>
        </p:spPr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10191750" y="152400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7239000" y="4000500"/>
            <a:ext cx="3429000" cy="133350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7905750" y="3657600"/>
            <a:ext cx="2990850" cy="112395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8572500" y="3314700"/>
            <a:ext cx="2552700" cy="91440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9239250" y="2971800"/>
            <a:ext cx="2114550" cy="70485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9906000" y="2628900"/>
            <a:ext cx="1676400" cy="49530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666750" y="1123950"/>
            <a:ext cx="6858000" cy="2095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Government Subsidy</a:t>
            </a:r>
            <a:endParaRPr sz="34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&amp; Grant Disbursement</a:t>
            </a:r>
            <a:endParaRPr sz="34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Tracking System</a:t>
            </a:r>
            <a:endParaRPr sz="34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85800" y="3429000"/>
            <a:ext cx="6477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Transparent workflows. Controlled releases. Accountable outcomes.</a:t>
            </a:r>
            <a:endParaRPr sz="15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85800" y="411480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81050" y="4114800"/>
            <a:ext cx="8763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REACT 18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866900" y="4114800"/>
            <a:ext cx="179070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962150" y="4114800"/>
            <a:ext cx="16002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SPRING BOOT 3.2.5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3771900" y="4114800"/>
            <a:ext cx="11239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867150" y="4114800"/>
            <a:ext cx="9334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MYSQL 8.x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85800" y="52197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Infosys Springboard Virtual Internship 7.0 • Batch 2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1144250" y="64198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01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01 • CONTEXT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One platform for the complete grant lifecycle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 role-aware web application connecting citizens, officers, finance teams and administrators.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02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09600" y="1809750"/>
            <a:ext cx="33528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1809750"/>
            <a:ext cx="66675" cy="18097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819150" y="1981200"/>
            <a:ext cx="400050" cy="4000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01</a:t>
            </a:r>
            <a:endParaRPr sz="135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333500" y="1962150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Discover &amp; apply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38200" y="2438400"/>
            <a:ext cx="28956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Beneficiaries browse active schemes, maintain profiles, create applications, attach documents and track status.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191000" y="1809750"/>
            <a:ext cx="33528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1809750"/>
            <a:ext cx="66675" cy="18097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400550" y="1981200"/>
            <a:ext cx="400050" cy="4000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02</a:t>
            </a:r>
            <a:endParaRPr sz="135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914900" y="1962150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Verify &amp; approve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419600" y="2438400"/>
            <a:ext cx="28956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Field, district and finance officers process controlled stage transitions with recorded decisions.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772400" y="1809750"/>
            <a:ext cx="33528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772400" y="1809750"/>
            <a:ext cx="66675" cy="18097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981950" y="1981200"/>
            <a:ext cx="400050" cy="4000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03</a:t>
            </a:r>
            <a:endParaRPr sz="135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496300" y="1962150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Release &amp; monitor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001000" y="2438400"/>
            <a:ext cx="28956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Milestone compliance gates fund releases; utilization proof, analytics and audit logs provide oversight.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09600" y="4000500"/>
            <a:ext cx="10515600" cy="1714500"/>
          </a:xfrm>
          <a:prstGeom prst="roundRect">
            <a:avLst>
              <a:gd name="adj" fmla="val 4444"/>
            </a:avLst>
          </a:prstGeom>
          <a:solidFill>
            <a:srgbClr val="0A2237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57250" y="42291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SYSTEM PROMISE</a:t>
            </a:r>
            <a:endParaRPr sz="90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857250" y="4514850"/>
            <a:ext cx="92392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Turn a fragmented subsidy process into a traceable digital workflow</a:t>
            </a:r>
            <a:endParaRPr sz="21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57250" y="5048250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Every major action—from eligibility evaluation to treasury simulation—passes through explicit business rules and persistent records.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angle 25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02 • NEED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Fragmented administration weakens trust and control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project addresses operational gaps across application review, approval, release and post-release monitoring.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03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09600" y="1809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1809750"/>
            <a:ext cx="66675" cy="142875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819150" y="1981200"/>
            <a:ext cx="400050" cy="40005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01</a:t>
            </a:r>
            <a:endParaRPr sz="135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333500" y="19621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Manual handoffs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38200" y="24384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Status updates become slow and difficult to trace.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5867400" y="1809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5867400" y="1809750"/>
            <a:ext cx="66675" cy="14287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076950" y="1981200"/>
            <a:ext cx="400050" cy="4000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02</a:t>
            </a:r>
            <a:endParaRPr sz="135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591300" y="19621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Inconsistent eligibility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096000" y="24384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Rule interpretation can vary without configurable scoring.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09600" y="35242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609600" y="3524250"/>
            <a:ext cx="66675" cy="14287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19150" y="3695700"/>
            <a:ext cx="400050" cy="4000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03</a:t>
            </a:r>
            <a:endParaRPr sz="135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333500" y="36766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Release risk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38200" y="41529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Funds may be released without milestone evidence or budget checks.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5867400" y="35242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867400" y="3524250"/>
            <a:ext cx="66675" cy="14287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076950" y="3695700"/>
            <a:ext cx="400050" cy="4000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sz="135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591300" y="36766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Limited visibility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6096000" y="41529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Citizens and officers lack one shared lifecycle view.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03 • OBJECTIVES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Five design goals guide the implementation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47700" y="1695450"/>
            <a:ext cx="495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742950" y="16954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01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371600" y="16192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ACCESS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143250" y="161925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Serve beneficiary, field, district, finance and admin roles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371600" y="2247900"/>
            <a:ext cx="9753600" cy="0"/>
          </a:xfrm>
          <a:prstGeom prst="line">
            <a:avLst/>
          </a:prstGeom>
          <a:noFill/>
          <a:ln w="9525">
            <a:solidFill>
              <a:srgbClr val="183B52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47700" y="2571750"/>
            <a:ext cx="495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42950" y="25717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02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371600" y="24955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CONTROL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143250" y="249555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Enforce allowed application-state transitions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1371600" y="3124200"/>
            <a:ext cx="9753600" cy="0"/>
          </a:xfrm>
          <a:prstGeom prst="line">
            <a:avLst/>
          </a:prstGeom>
          <a:noFill/>
          <a:ln w="9525">
            <a:solidFill>
              <a:srgbClr val="183B52"/>
            </a:solidFill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47700" y="3448050"/>
            <a:ext cx="495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742950" y="34480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03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371600" y="33718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FAIRNESS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143250" y="337185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Evaluate configurable weighted eligibility criteria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1371600" y="4000500"/>
            <a:ext cx="9753600" cy="0"/>
          </a:xfrm>
          <a:prstGeom prst="line">
            <a:avLst/>
          </a:prstGeom>
          <a:noFill/>
          <a:ln w="9525">
            <a:solidFill>
              <a:srgbClr val="183B52"/>
            </a:solidFill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47700" y="4324350"/>
            <a:ext cx="495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43243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371600" y="42481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ACCOUNTABILITY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3143250" y="424815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Capture audit events, compliance and utilization evidence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1371600" y="4876800"/>
            <a:ext cx="9753600" cy="0"/>
          </a:xfrm>
          <a:prstGeom prst="line">
            <a:avLst/>
          </a:prstGeom>
          <a:noFill/>
          <a:ln w="9525">
            <a:solidFill>
              <a:srgbClr val="183B52"/>
            </a:solidFill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47700" y="5200650"/>
            <a:ext cx="4953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" y="520065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05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371600" y="51244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INSIGHT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3143250" y="512445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Expose dashboard analytics and CSV exports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9" name="Straight Connector 28"/>
          <p:cNvSpPr>
            <a:spLocks noGrp="1"/>
          </p:cNvSpPr>
          <p:nvPr/>
        </p:nvSpPr>
        <p:spPr>
          <a:xfrm>
            <a:off x="1371600" y="5753100"/>
            <a:ext cx="9753600" cy="0"/>
          </a:xfrm>
          <a:prstGeom prst="line">
            <a:avLst/>
          </a:prstGeom>
          <a:noFill/>
          <a:ln w="9525">
            <a:solidFill>
              <a:srgbClr val="183B52"/>
            </a:solidFill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04 • SYSTEM SHIFT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From disconnected steps to governed execution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05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47700" y="158115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TRADITIONAL / FRAGMENTED</a:t>
            </a:r>
            <a:endParaRPr sz="1050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00850" y="158115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IMPLEMENTED PLATFORM</a:t>
            </a:r>
            <a:endParaRPr sz="105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" y="2038350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800100" y="203835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×</a:t>
            </a:r>
            <a:endParaRPr sz="1875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95400" y="2038350"/>
            <a:ext cx="38290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Separate records and handoffs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09600" y="2895600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00100" y="289560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×</a:t>
            </a:r>
            <a:endParaRPr sz="1875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295400" y="2895600"/>
            <a:ext cx="38290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Manual rule interpretation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09600" y="3752850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00100" y="375285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×</a:t>
            </a:r>
            <a:endParaRPr sz="1875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295400" y="3752850"/>
            <a:ext cx="38290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Approval status hard to follow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09600" y="4610100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00100" y="461010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×</a:t>
            </a:r>
            <a:endParaRPr sz="1875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295400" y="4610100"/>
            <a:ext cx="38290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Release evidence checked inconsistently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705600" y="2038350"/>
            <a:ext cx="4419600" cy="609600"/>
          </a:xfrm>
          <a:prstGeom prst="roundRect">
            <a:avLst>
              <a:gd name="adj" fmla="val 12500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896100" y="203835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✓</a:t>
            </a:r>
            <a:endParaRPr sz="165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391400" y="2038350"/>
            <a:ext cx="34861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Shared lifecycle records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705600" y="2895600"/>
            <a:ext cx="4419600" cy="609600"/>
          </a:xfrm>
          <a:prstGeom prst="roundRect">
            <a:avLst>
              <a:gd name="adj" fmla="val 12500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896100" y="289560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✓</a:t>
            </a:r>
            <a:endParaRPr sz="165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391400" y="2895600"/>
            <a:ext cx="34861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Configurable scoring engine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705600" y="3752850"/>
            <a:ext cx="4419600" cy="609600"/>
          </a:xfrm>
          <a:prstGeom prst="roundRect">
            <a:avLst>
              <a:gd name="adj" fmla="val 12500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896100" y="375285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✓</a:t>
            </a:r>
            <a:endParaRPr sz="165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391400" y="3752850"/>
            <a:ext cx="34861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Role-specific dashboards and tracking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6705600" y="4610100"/>
            <a:ext cx="4419600" cy="609600"/>
          </a:xfrm>
          <a:prstGeom prst="roundRect">
            <a:avLst>
              <a:gd name="adj" fmla="val 12500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896100" y="4610100"/>
            <a:ext cx="381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✓</a:t>
            </a:r>
            <a:endParaRPr sz="165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391400" y="4610100"/>
            <a:ext cx="34861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Compliance-gated milestone release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1" name="Straight Connector 30"/>
          <p:cNvSpPr>
            <a:spLocks noGrp="1"/>
          </p:cNvSpPr>
          <p:nvPr/>
        </p:nvSpPr>
        <p:spPr>
          <a:xfrm>
            <a:off x="5810250" y="2190750"/>
            <a:ext cx="381000" cy="3048000"/>
          </a:xfrm>
          <a:prstGeom prst="line">
            <a:avLst/>
          </a:prstGeom>
          <a:noFill/>
          <a:ln w="38100">
            <a:solidFill>
              <a:srgbClr val="FFB547"/>
            </a:solidFill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5734050" y="3429000"/>
            <a:ext cx="57150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→</a:t>
            </a:r>
            <a:endParaRPr sz="2550" b="1">
              <a:solidFill>
                <a:srgbClr val="FFB547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 34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05 • ARCHITECTURE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 layered monolith with a separate React client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browser communicates with stateless REST APIs; service logic persists domain state through Spring Data JPA.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06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47700" y="19240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54D7FF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742950" y="200025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React 18 + Router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47700" y="304800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54D7FF"/>
            </a:solidFill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31242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Axios API layer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1552575" y="2590800"/>
            <a:ext cx="0" cy="438150"/>
          </a:xfrm>
          <a:prstGeom prst="line">
            <a:avLst/>
          </a:prstGeom>
          <a:noFill/>
          <a:ln w="28575">
            <a:solidFill>
              <a:srgbClr val="54D7FF"/>
            </a:solidFill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143250" y="19240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19C5B1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238500" y="20002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JWT filter + Spring Security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3143250" y="304800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19C5B1"/>
            </a:solidFill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238500" y="31242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REST Controllers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3143250" y="41719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19C5B1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238500" y="42481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Domain Services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4333875" y="2590800"/>
            <a:ext cx="0" cy="43815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4333875" y="3714750"/>
            <a:ext cx="0" cy="43815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210300" y="3048000"/>
            <a:ext cx="228600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305550" y="312420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Data Repositories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210300" y="4171950"/>
            <a:ext cx="228600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6305550" y="424815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JPA / Hibernate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5524500" y="3381375"/>
            <a:ext cx="6667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7353300" y="3714750"/>
            <a:ext cx="0" cy="43815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182100" y="3600450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9277350" y="3676650"/>
            <a:ext cx="16192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MySQL 8.x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Straight Connector 26"/>
          <p:cNvSpPr>
            <a:spLocks noGrp="1"/>
          </p:cNvSpPr>
          <p:nvPr/>
        </p:nvSpPr>
        <p:spPr>
          <a:xfrm>
            <a:off x="8496300" y="4000500"/>
            <a:ext cx="666750" cy="504825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2457450" y="3381375"/>
            <a:ext cx="666750" cy="0"/>
          </a:xfrm>
          <a:prstGeom prst="line">
            <a:avLst/>
          </a:prstGeom>
          <a:noFill/>
          <a:ln w="28575">
            <a:solidFill>
              <a:srgbClr val="54D7FF"/>
            </a:solidFill>
          </a:ln>
        </p:spPr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1657350" y="2771775"/>
            <a:ext cx="100965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752600" y="2771775"/>
            <a:ext cx="8191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HTTP / JSON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4705350" y="2628900"/>
            <a:ext cx="10096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4800600" y="2628900"/>
            <a:ext cx="8191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Bearer JWT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886700" y="3857625"/>
            <a:ext cx="9715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7981950" y="3857625"/>
            <a:ext cx="7810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Persistence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" name="Rectangle 56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06 • TECHNOLOGY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 focused full-stack technology foundation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07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09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C2D42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19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914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CLIENT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React 18.3.1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876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76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React Router 6.26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876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76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Axios 1.7.7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876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76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Vite 5.4.2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876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876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Lucide React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876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3276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A263B"/>
          </a:solidFill>
          <a:ln w="0">
            <a:noFill/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3486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3581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SERVER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543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Java 21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3543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3543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Boot 3.2.5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3543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3543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Web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3543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3543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Security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3543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3543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Validation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0" name="Straight Connector 29"/>
          <p:cNvSpPr>
            <a:spLocks noGrp="1"/>
          </p:cNvSpPr>
          <p:nvPr/>
        </p:nvSpPr>
        <p:spPr>
          <a:xfrm>
            <a:off x="3543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5943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C2D42"/>
          </a:solidFill>
          <a:ln w="0">
            <a:noFill/>
          </a:ln>
        </p:spPr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6153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6248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DATA &amp; SECURITY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6210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MySQL Connector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5" name="Straight Connector 34"/>
          <p:cNvSpPr>
            <a:spLocks noGrp="1"/>
          </p:cNvSpPr>
          <p:nvPr/>
        </p:nvSpPr>
        <p:spPr>
          <a:xfrm>
            <a:off x="6210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6210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Data JPA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7" name="Straight Connector 36"/>
          <p:cNvSpPr>
            <a:spLocks noGrp="1"/>
          </p:cNvSpPr>
          <p:nvPr/>
        </p:nvSpPr>
        <p:spPr>
          <a:xfrm>
            <a:off x="6210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6210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Hibernate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9" name="Straight Connector 38"/>
          <p:cNvSpPr>
            <a:spLocks noGrp="1"/>
          </p:cNvSpPr>
          <p:nvPr/>
        </p:nvSpPr>
        <p:spPr>
          <a:xfrm>
            <a:off x="6210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6210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JJWT 0.12.5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1" name="Straight Connector 40"/>
          <p:cNvSpPr>
            <a:spLocks noGrp="1"/>
          </p:cNvSpPr>
          <p:nvPr/>
        </p:nvSpPr>
        <p:spPr>
          <a:xfrm>
            <a:off x="6210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6210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BCrypt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3" name="Straight Connector 42"/>
          <p:cNvSpPr>
            <a:spLocks noGrp="1"/>
          </p:cNvSpPr>
          <p:nvPr/>
        </p:nvSpPr>
        <p:spPr>
          <a:xfrm>
            <a:off x="6210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8610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A263B"/>
          </a:solidFill>
          <a:ln w="0">
            <a:noFill/>
          </a:ln>
        </p:spPr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8820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8915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OPERATIONS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7" name="Rectangle 46"/>
          <p:cNvSpPr>
            <a:spLocks noGrp="1"/>
          </p:cNvSpPr>
          <p:nvPr/>
        </p:nvSpPr>
        <p:spPr>
          <a:xfrm>
            <a:off x="8877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Maven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8" name="Straight Connector 47"/>
          <p:cNvSpPr>
            <a:spLocks noGrp="1"/>
          </p:cNvSpPr>
          <p:nvPr/>
        </p:nvSpPr>
        <p:spPr>
          <a:xfrm>
            <a:off x="8877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8877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Actuator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0" name="Straight Connector 49"/>
          <p:cNvSpPr>
            <a:spLocks noGrp="1"/>
          </p:cNvSpPr>
          <p:nvPr/>
        </p:nvSpPr>
        <p:spPr>
          <a:xfrm>
            <a:off x="8877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8877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Scheduled tasks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2" name="Straight Connector 51"/>
          <p:cNvSpPr>
            <a:spLocks noGrp="1"/>
          </p:cNvSpPr>
          <p:nvPr/>
        </p:nvSpPr>
        <p:spPr>
          <a:xfrm>
            <a:off x="8877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8877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CSV exports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4" name="Straight Connector 53"/>
          <p:cNvSpPr>
            <a:spLocks noGrp="1"/>
          </p:cNvSpPr>
          <p:nvPr/>
        </p:nvSpPr>
        <p:spPr>
          <a:xfrm>
            <a:off x="8877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8877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JUnit / Spring Test</a:t>
            </a:r>
            <a:endParaRPr sz="1200" b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6" name="Straight Connector 55"/>
          <p:cNvSpPr>
            <a:spLocks noGrp="1"/>
          </p:cNvSpPr>
          <p:nvPr/>
        </p:nvSpPr>
        <p:spPr>
          <a:xfrm>
            <a:off x="8877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07 • ACCESS MODEL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Five roles divide responsibility across the lifecycle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08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09600" y="1676400"/>
            <a:ext cx="32766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00100" y="18669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95350" y="18669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333500" y="1847850"/>
            <a:ext cx="23431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BENEFICIARY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38200" y="2362200"/>
            <a:ext cx="2819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Profile, schemes, applications, documents, tracking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114800" y="1676400"/>
            <a:ext cx="32766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305300" y="18669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400550" y="18669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838700" y="1847850"/>
            <a:ext cx="23431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FIELD OFFICER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343400" y="2362200"/>
            <a:ext cx="2819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Ground verification and reverification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7620000" y="1676400"/>
            <a:ext cx="32766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810500" y="18669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905750" y="18669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343900" y="1847850"/>
            <a:ext cx="23431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DISTRICT OFFICER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848600" y="2362200"/>
            <a:ext cx="2819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District-level review and escalation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09600" y="3486150"/>
            <a:ext cx="52578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00100" y="367665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95350" y="367665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4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333500" y="3657600"/>
            <a:ext cx="43243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FINANCE OFFICER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8200" y="4171950"/>
            <a:ext cx="48006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Financial approval, plans and releases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4114800" y="3486150"/>
            <a:ext cx="52578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4305300" y="367665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4400550" y="367665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5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4838700" y="3657600"/>
            <a:ext cx="43243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ADMIN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4343400" y="4171950"/>
            <a:ext cx="48006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Schemes, regions, users’ oversight, reports and audit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08 • WORKFLOW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Applications move through explicit controlled states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Rejected and reverification paths are supported at decision stages.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09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000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18394D"/>
          </a:solidFill>
          <a:ln w="9525">
            <a:solidFill>
              <a:srgbClr val="19C5B1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953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DRAFT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178117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205740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15265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SUBMITTED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343852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7147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8100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ELIGIBILITY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EVALUATED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509587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37210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46735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FIELD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VERIFICATION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675322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0294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1247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DISTRICT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REVIEW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841057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68680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78205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FINANCE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APPROVAL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10067925" y="2695575"/>
            <a:ext cx="257175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103441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FFB547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104394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DISBURSEMENT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PLANNED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2095500" y="3857625"/>
            <a:ext cx="8001000" cy="1143000"/>
          </a:xfrm>
          <a:prstGeom prst="roundRect">
            <a:avLst>
              <a:gd name="adj" fmla="val 6667"/>
            </a:avLst>
          </a:prstGeom>
          <a:solidFill>
            <a:srgbClr val="102C40"/>
          </a:solidFill>
          <a:ln w="0">
            <a:noFill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324100" y="40005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ALTERNATE DECISIONS</a:t>
            </a:r>
            <a:endParaRPr sz="900" b="1">
              <a:solidFill>
                <a:srgbClr val="FFB5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400300" y="441960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REJECTED</a:t>
            </a:r>
            <a:endParaRPr sz="1200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4324350" y="441960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REVERIFICATION REQUIRED</a:t>
            </a:r>
            <a:endParaRPr sz="1200" b="1">
              <a:solidFill>
                <a:srgbClr val="FFB5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524750" y="44196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CONTINUE FORWARD</a:t>
            </a:r>
            <a:endParaRPr sz="120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09 • BUSINESS LOGIC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Eligibility combines weighted rules with mandatory gates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10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47700" y="211455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742950" y="219075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Beneficiary profile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7700" y="327660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42950" y="335280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Scheme criteria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2457450" y="2457450"/>
            <a:ext cx="647700" cy="45720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2457450" y="3143250"/>
            <a:ext cx="647700" cy="47625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124200" y="2571750"/>
            <a:ext cx="2095500" cy="895350"/>
          </a:xfrm>
          <a:prstGeom prst="roundRect">
            <a:avLst>
              <a:gd name="adj" fmla="val 8511"/>
            </a:avLst>
          </a:prstGeom>
          <a:solidFill>
            <a:srgbClr val="12384B"/>
          </a:solidFill>
          <a:ln w="9525">
            <a:solidFill>
              <a:srgbClr val="54D7FF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219450" y="264795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Evaluate operator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≤  ≥  =  IN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5219700" y="3019425"/>
            <a:ext cx="647700" cy="0"/>
          </a:xfrm>
          <a:prstGeom prst="line">
            <a:avLst/>
          </a:prstGeom>
          <a:noFill/>
          <a:ln w="28575">
            <a:solidFill>
              <a:srgbClr val="54D7FF"/>
            </a:solidFill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886450" y="211455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FFB547"/>
            </a:solidFill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981700" y="219075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Weighted score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886450" y="327660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FFB547"/>
            </a:solidFill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5981700" y="335280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Mandatory pass?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696200" y="2457450"/>
            <a:ext cx="6667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7696200" y="3619500"/>
            <a:ext cx="6667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382000" y="2114550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4CD7A4"/>
            </a:solidFill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8477250" y="2190750"/>
            <a:ext cx="209550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Eligible / ineligible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8382000" y="3276600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4CD7A4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477250" y="3352800"/>
            <a:ext cx="209550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LOW / FLAGGED /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HIGH_VALUE risk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47700" y="4648200"/>
            <a:ext cx="10020300" cy="857250"/>
          </a:xfrm>
          <a:prstGeom prst="roundRect">
            <a:avLst>
              <a:gd name="adj" fmla="val 8889"/>
            </a:avLst>
          </a:prstGeom>
          <a:solidFill>
            <a:srgbClr val="0A283B"/>
          </a:solidFill>
          <a:ln w="0">
            <a:noFill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876300" y="48006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Implemented criterion types</a:t>
            </a:r>
            <a:endParaRPr sz="90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76300" y="51244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Annual income  •  Age  •  Beneficiary category  •  Land holding  •  Disability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10 • MODULE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Multi-level verification preserves separation of duties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11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09600" y="1885950"/>
            <a:ext cx="3276600" cy="2286000"/>
          </a:xfrm>
          <a:prstGeom prst="roundRect">
            <a:avLst>
              <a:gd name="adj" fmla="val 3333"/>
            </a:avLst>
          </a:prstGeom>
          <a:solidFill>
            <a:srgbClr val="0B2B40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38200" y="21145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933450" y="21145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409700" y="20764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FIELD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76300" y="2762250"/>
            <a:ext cx="27432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Approve • Reject • Request reverification</a:t>
            </a:r>
            <a:endParaRPr sz="112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76300" y="36004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Decision + remarks + officer + timestamp</a:t>
            </a:r>
            <a:endParaRPr sz="90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3886200" y="3028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114800" y="1885950"/>
            <a:ext cx="3276600" cy="2286000"/>
          </a:xfrm>
          <a:prstGeom prst="roundRect">
            <a:avLst>
              <a:gd name="adj" fmla="val 3333"/>
            </a:avLst>
          </a:prstGeom>
          <a:solidFill>
            <a:srgbClr val="0B2B40"/>
          </a:solidFill>
          <a:ln w="0">
            <a:noFill/>
          </a:ln>
        </p:spPr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343400" y="21145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438650" y="21145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914900" y="20764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DISTRICT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381500" y="2762250"/>
            <a:ext cx="27432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Approve • Reject • Escalate</a:t>
            </a:r>
            <a:endParaRPr sz="112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81500" y="36004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Decision + remarks + officer + timestamp</a:t>
            </a:r>
            <a:endParaRPr sz="90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391400" y="3028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7620000" y="1885950"/>
            <a:ext cx="3276600" cy="2286000"/>
          </a:xfrm>
          <a:prstGeom prst="roundRect">
            <a:avLst>
              <a:gd name="adj" fmla="val 3333"/>
            </a:avLst>
          </a:prstGeom>
          <a:solidFill>
            <a:srgbClr val="0B2B40"/>
          </a:solidFill>
          <a:ln w="0">
            <a:noFill/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848600" y="21145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943850" y="21145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8420100" y="20764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FINANCE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886700" y="2762250"/>
            <a:ext cx="27432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Approve amount • Reject</a:t>
            </a:r>
            <a:endParaRPr sz="112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886700" y="36004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Decision + remarks + officer + timestamp</a:t>
            </a:r>
            <a:endParaRPr sz="900" b="1">
              <a:solidFill>
                <a:srgbClr val="FFB5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09600" y="4552950"/>
            <a:ext cx="10287000" cy="914400"/>
          </a:xfrm>
          <a:prstGeom prst="roundRect">
            <a:avLst>
              <a:gd name="adj" fmla="val 8333"/>
            </a:avLst>
          </a:prstGeom>
          <a:solidFill>
            <a:srgbClr val="10263A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38200" y="47053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AUDITABLE STATE CHANGE</a:t>
            </a:r>
            <a:endParaRPr sz="90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38200" y="50101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Each decision records the previous status, resulting status and action details in the audit trail.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 34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11 • MODULE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Milestones gate every fund release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implementation prevents releases that exceed scheduled or remaining amounts, and requires compliance when configured.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12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7625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6675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6200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01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6675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Create plan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6675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Milestone amounts must match the approved plan total.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2514600" y="3409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74320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93370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02895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02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93370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Complete compliance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93370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Officer marks required condition as satisfied.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4781550" y="3409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01015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20065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529590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03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20065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Validate release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20065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Check schedule, plan balance, scheme budget and region.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7048500" y="3409950"/>
            <a:ext cx="2095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27710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D3444"/>
          </a:solidFill>
          <a:ln w="0">
            <a:noFill/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46760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56285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46760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Treasury simulation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46760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Generate transaction reference and processed status.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9" name="Straight Connector 28"/>
          <p:cNvSpPr>
            <a:spLocks noGrp="1"/>
          </p:cNvSpPr>
          <p:nvPr/>
        </p:nvSpPr>
        <p:spPr>
          <a:xfrm>
            <a:off x="9315450" y="3409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54405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973455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982980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05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973455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Update records</a:t>
            </a:r>
            <a:endParaRPr sz="127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973455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Milestone, plan, application, scheme, region and audit log.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12 • DATA MODEL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Fourteen domain tables anchor traceability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Core relationships are shown; user_roles is the many-to-many join table.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13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09600" y="16192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704850" y="161925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IDENTITY &amp; JURISDICTION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09600" y="20955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12334A"/>
          </a:solidFill>
          <a:ln w="9525">
            <a:solidFill>
              <a:srgbClr val="54D7FF"/>
            </a:solidFill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04850" y="21717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users ↔ roles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09600" y="28956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04850" y="29718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beneficiaries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09600" y="36957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704850" y="37719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regions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333750" y="16192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29000" y="161925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SCHEME RULES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3333750" y="20955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29000" y="21717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schemes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3333750" y="28956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3429000" y="29718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eligibility_criteria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153150" y="161925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6248400" y="16192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LIFECYCLE CORE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153150" y="23241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164153"/>
          </a:solidFill>
          <a:ln w="9525">
            <a:solidFill>
              <a:srgbClr val="19C5B1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248400" y="2400300"/>
            <a:ext cx="2000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subsidy_applications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153150" y="3257550"/>
            <a:ext cx="2190750" cy="552450"/>
          </a:xfrm>
          <a:prstGeom prst="roundRect">
            <a:avLst>
              <a:gd name="adj" fmla="val 13793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6248400" y="33337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documents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6153150" y="4000500"/>
            <a:ext cx="2190750" cy="552450"/>
          </a:xfrm>
          <a:prstGeom prst="roundRect">
            <a:avLst>
              <a:gd name="adj" fmla="val 13793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6248400" y="40767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verifications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9124950" y="1619250"/>
            <a:ext cx="17145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9220200" y="161925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FINANCIAL CONTROL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124950" y="2095500"/>
            <a:ext cx="1714500" cy="552450"/>
          </a:xfrm>
          <a:prstGeom prst="roundRect">
            <a:avLst>
              <a:gd name="adj" fmla="val 13793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220200" y="217170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disbursement_plan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9124950" y="2838450"/>
            <a:ext cx="1714500" cy="552450"/>
          </a:xfrm>
          <a:prstGeom prst="roundRect">
            <a:avLst>
              <a:gd name="adj" fmla="val 13793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9220200" y="291465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milestones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9124950" y="3581400"/>
            <a:ext cx="1714500" cy="552450"/>
          </a:xfrm>
          <a:prstGeom prst="roundRect">
            <a:avLst>
              <a:gd name="adj" fmla="val 13793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9220200" y="365760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fund_releases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9124950" y="4324350"/>
            <a:ext cx="1714500" cy="552450"/>
          </a:xfrm>
          <a:prstGeom prst="roundRect">
            <a:avLst>
              <a:gd name="adj" fmla="val 13793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9220200" y="440055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fund_utilizations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3333750" y="5619750"/>
            <a:ext cx="49530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3429000" y="56197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audit_logs: lifecycle and financial actions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Rectangle 36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13 • SECURITY &amp; API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Stateless access from login to protected resource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14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47625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6675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76200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6675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Credentials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6675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POST /api/auth/login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251460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74320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93370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02895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93370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Authentication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93370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DaoAuthenticationProvider + BCrypt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478155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501015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20065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529590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20065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Token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20065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JJWT issues a 24-hour bearer token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704850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727710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46760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56285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4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46760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Request filter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46760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JWT filter restores authenticated context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931545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954405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73455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82980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5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973455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Authorization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973455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Endpoint rules + method security + React route guards</a:t>
            </a:r>
            <a:endParaRPr sz="97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609600" y="476250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102C40"/>
          </a:solidFill>
          <a:ln w="0">
            <a:noFill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838200" y="49149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54D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4D7FF"/>
                </a:solidFill>
                <a:latin typeface="Bitstream Charter"/>
                <a:ea typeface="Bitstream Charter"/>
                <a:cs typeface="Bitstream Charter"/>
              </a:rPr>
              <a:t>Public GET endpoints</a:t>
            </a:r>
            <a:endParaRPr sz="900" b="1">
              <a:solidFill>
                <a:srgbClr val="54D7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38200" y="51816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Schemes and regions are readable without authentication; other routes require authentication or specific roles.</a:t>
            </a:r>
            <a:endParaRPr sz="11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14 • APPLICATION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Role-aware dashboards turn backend workflows into tasks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source contains dedicated pages and API service modules for each audience.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15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09600" y="1676400"/>
            <a:ext cx="10287000" cy="1066800"/>
          </a:xfrm>
          <a:prstGeom prst="roundRect">
            <a:avLst>
              <a:gd name="adj" fmla="val 7143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19150" y="1885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18859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428750" y="18288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BENEFICIARY EXPERIENCE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629150" y="18383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Dashboard • scheme catalog • profile • applications • status tracking</a:t>
            </a:r>
            <a:endParaRPr sz="112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09600" y="2990850"/>
            <a:ext cx="10287000" cy="1066800"/>
          </a:xfrm>
          <a:prstGeom prst="roundRect">
            <a:avLst>
              <a:gd name="adj" fmla="val 7143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19150" y="32004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914400" y="320040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428750" y="3143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OFFICER WORKBENCH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629150" y="31527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Field verification • district review • finance approval • milestones • utilization</a:t>
            </a:r>
            <a:endParaRPr sz="112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09600" y="4305300"/>
            <a:ext cx="10287000" cy="1066800"/>
          </a:xfrm>
          <a:prstGeom prst="roundRect">
            <a:avLst>
              <a:gd name="adj" fmla="val 7143"/>
            </a:avLst>
          </a:prstGeom>
          <a:solidFill>
            <a:srgbClr val="0B3040"/>
          </a:solidFill>
          <a:ln w="0">
            <a:noFill/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819150" y="45148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14400" y="45148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428750" y="44577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ADMIN CONTROL CENTER</a:t>
            </a:r>
            <a:endParaRPr sz="12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629150" y="4467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Scheme and region management • beneficiary directory • reports • audit • integrations</a:t>
            </a:r>
            <a:endParaRPr sz="112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09600" y="5810250"/>
            <a:ext cx="1028700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04850" y="5810250"/>
            <a:ext cx="100965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Shared: AppLayout • Sidebar • Header • DataTable • Charts • WorkflowStepper • Toasts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15 • IMPLEMENTED OUTCOME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The codebase delivers governed end-to-end execution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16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09600" y="1714500"/>
            <a:ext cx="2400300" cy="1257300"/>
          </a:xfrm>
          <a:prstGeom prst="roundRect">
            <a:avLst>
              <a:gd name="adj" fmla="val 6061"/>
            </a:avLst>
          </a:prstGeom>
          <a:solidFill>
            <a:srgbClr val="0B2D41"/>
          </a:solidFill>
          <a:ln w="0">
            <a:noFill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800100" y="1847850"/>
            <a:ext cx="8572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13</a:t>
            </a:r>
            <a:endParaRPr sz="255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676400" y="1924050"/>
            <a:ext cx="11239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REST controllers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3238500" y="1714500"/>
            <a:ext cx="2400300" cy="1257300"/>
          </a:xfrm>
          <a:prstGeom prst="roundRect">
            <a:avLst>
              <a:gd name="adj" fmla="val 6061"/>
            </a:avLst>
          </a:prstGeom>
          <a:solidFill>
            <a:srgbClr val="0B2D41"/>
          </a:solidFill>
          <a:ln w="0">
            <a:noFill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429000" y="1847850"/>
            <a:ext cx="8572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14</a:t>
            </a:r>
            <a:endParaRPr sz="255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305300" y="1924050"/>
            <a:ext cx="11239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JPA entities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5867400" y="1714500"/>
            <a:ext cx="2400300" cy="1257300"/>
          </a:xfrm>
          <a:prstGeom prst="roundRect">
            <a:avLst>
              <a:gd name="adj" fmla="val 6061"/>
            </a:avLst>
          </a:prstGeom>
          <a:solidFill>
            <a:srgbClr val="0B2D41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6057900" y="1847850"/>
            <a:ext cx="8572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5</a:t>
            </a:r>
            <a:endParaRPr sz="255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934200" y="1924050"/>
            <a:ext cx="11239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security roles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496300" y="1714500"/>
            <a:ext cx="2400300" cy="1257300"/>
          </a:xfrm>
          <a:prstGeom prst="roundRect">
            <a:avLst>
              <a:gd name="adj" fmla="val 6061"/>
            </a:avLst>
          </a:prstGeom>
          <a:solidFill>
            <a:srgbClr val="0B2D41"/>
          </a:solidFill>
          <a:ln w="0">
            <a:noFill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686800" y="1847850"/>
            <a:ext cx="8572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20</a:t>
            </a:r>
            <a:endParaRPr sz="2550" b="1">
              <a:solidFill>
                <a:srgbClr val="FFB5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563100" y="1924050"/>
            <a:ext cx="11239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declared automated tests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609600" y="331470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9600" y="3314700"/>
            <a:ext cx="66675" cy="18097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838200" y="3467100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Citizen transparency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38200" y="3943350"/>
            <a:ext cx="27813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Application tracking and explicit statuses provide a clear view of progress.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4076700" y="331470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4076700" y="3314700"/>
            <a:ext cx="66675" cy="18097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4305300" y="3467100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Financial control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305300" y="3943350"/>
            <a:ext cx="27813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Budget, milestone, compliance and utilization checks constrain release actions.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543800" y="331470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543800" y="3314700"/>
            <a:ext cx="66675" cy="18097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7772400" y="3467100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Administrative oversight</a:t>
            </a:r>
            <a:endParaRPr sz="1425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772400" y="3943350"/>
            <a:ext cx="27813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Analytics, CSV exports, schedulers and audit logs support review and follow-up.</a:t>
            </a:r>
            <a:endParaRPr sz="10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609600" y="5476875"/>
            <a:ext cx="1017270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Note: test execution could not be independently rerun in this environment because Maven is unavailable; the ZIP contains 20 @Test methods and compiled test artifacts.</a:t>
            </a:r>
            <a:endParaRPr sz="825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16 • ROADMAP</a:t>
            </a:r>
            <a:endParaRPr sz="97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Current boundaries define the next engineering priorities</a:t>
            </a:r>
            <a:endParaRPr sz="27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  <a:endParaRPr sz="675" b="1">
              <a:solidFill>
                <a:srgbClr val="6F8BA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17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09600" y="16192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CURRENT IMPLEMENTATION BOUNDARIES</a:t>
            </a:r>
            <a:endParaRPr sz="1050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191250" y="16192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REALISTIC NEXT STEPS</a:t>
            </a:r>
            <a:endParaRPr sz="105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" y="207645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81050" y="20764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  <a:endParaRPr sz="1500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19200" y="207645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Treasury and identity services are simulations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09600" y="289560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81050" y="28956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  <a:endParaRPr sz="1500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219200" y="289560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Documents are stored through local file paths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09600" y="371475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81050" y="37147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  <a:endParaRPr sz="1500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219200" y="371475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CORS currently permits broad origin patterns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09600" y="453390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81050" y="45339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  <a:endParaRPr sz="1500" b="1">
              <a:solidFill>
                <a:srgbClr val="FF6B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219200" y="453390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Single Spring Boot monolith + one MySQL instance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191250" y="207645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362700" y="20764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  <a:endParaRPr sz="150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819900" y="207645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Connect approved PFMS / DBT and identity gateways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191250" y="289560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28956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  <a:endParaRPr sz="150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819900" y="289560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Adopt secure object storage and malware scanning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191250" y="371475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362700" y="37147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  <a:endParaRPr sz="150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819900" y="371475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Restrict origins and externalize secrets by environment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6191250" y="453390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362700" y="45339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  <a:endParaRPr sz="1500" b="1">
              <a:solidFill>
                <a:srgbClr val="4CD7A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819900" y="453390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Add observability, backups and deployment automation</a:t>
            </a:r>
            <a:endParaRPr sz="105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ounded Rectangle 15"/>
          <p:cNvSpPr>
            <a:spLocks noGrp="1"/>
          </p:cNvSpPr>
          <p:nvPr/>
        </p:nvSpPr>
        <p:spPr>
          <a:xfrm>
            <a:off x="7239000" y="0"/>
            <a:ext cx="4953000" cy="5143500"/>
          </a:xfrm>
          <a:prstGeom prst="roundRect">
            <a:avLst>
              <a:gd name="adj" fmla="val 1538"/>
            </a:avLst>
          </a:prstGeom>
          <a:solidFill>
            <a:srgbClr val="0B344B"/>
          </a:solidFill>
          <a:ln w="0">
            <a:noFill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8743950" y="838200"/>
            <a:ext cx="2857500" cy="2857500"/>
          </a:xfrm>
          <a:prstGeom prst="roundRect">
            <a:avLst>
              <a:gd name="adj" fmla="val 2667"/>
            </a:avLst>
          </a:prstGeom>
          <a:solidFill>
            <a:srgbClr val="11546A"/>
          </a:solidFill>
          <a:ln w="0">
            <a:noFill/>
          </a:ln>
        </p:spPr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9620250" y="1714500"/>
            <a:ext cx="1238250" cy="1238250"/>
          </a:xfrm>
          <a:prstGeom prst="roundRect">
            <a:avLst>
              <a:gd name="adj" fmla="val 6154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647700" y="8191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CONCLUSION</a:t>
            </a:r>
            <a:endParaRPr sz="1050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47700" y="125730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 traceable digital path</a:t>
            </a:r>
            <a:endParaRPr sz="30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from application to impact</a:t>
            </a:r>
            <a:endParaRPr sz="30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47700" y="2686050"/>
            <a:ext cx="6191250" cy="990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project combines role-based access, configurable eligibility, staged verification, compliance-gated disbursement, utilization tracking and administrative oversight in one coherent full-stack system.</a:t>
            </a:r>
            <a:endParaRPr sz="135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7700" y="4095750"/>
            <a:ext cx="11239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42950" y="4095750"/>
            <a:ext cx="9334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ACCURATE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1885950" y="4095750"/>
            <a:ext cx="120015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981200" y="4095750"/>
            <a:ext cx="10096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AUDITABLE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200400" y="409575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295650" y="40957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EXTENSIBLE</a:t>
            </a:r>
            <a:endParaRPr sz="900" b="1">
              <a:solidFill>
                <a:srgbClr val="071A2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47700" y="52197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  <a:endParaRPr sz="2100" b="1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47700" y="565785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Questions &amp; discussion</a:t>
            </a:r>
            <a:endParaRPr sz="1200" b="0">
              <a:solidFill>
                <a:srgbClr val="AFC3D4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1144250" y="64198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18</a:t>
            </a:r>
            <a:endParaRPr sz="825" b="1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8467</Words>
  <Application>WPS Presentation</Application>
  <PresentationFormat>Converted Presentation</PresentationFormat>
  <Paragraphs>652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Bitstream Charter</vt:lpstr>
      <vt:lpstr>Segoe Print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Yohini Yohini</cp:lastModifiedBy>
  <cp:revision>2</cp:revision>
  <dcterms:created xsi:type="dcterms:W3CDTF">2026-09-13T15:50:12Z</dcterms:created>
  <dcterms:modified xsi:type="dcterms:W3CDTF">2026-09-13T15:50:44Z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5695F07B7CE049689D53693020977702_13</vt:lpwstr>
  </property>
  <property fmtid="{D5CDD505-2E9C-101B-9397-08002B2CF9AE}" pid="3" name="KSOProductBuildVer">
    <vt:lpwstr>1033-12.1.0.28485</vt:lpwstr>
  </property>
</Properties>
</file>